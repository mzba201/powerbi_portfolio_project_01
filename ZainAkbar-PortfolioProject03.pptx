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BFBA40-4663-4893-AA94-EBDA2B76C19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CD366B-B967-4DE6-BF78-980523737976}">
      <dgm:prSet phldrT="[Text]"/>
      <dgm:spPr/>
      <dgm:t>
        <a:bodyPr/>
        <a:lstStyle/>
        <a:p>
          <a:r>
            <a:rPr lang="en-US" dirty="0"/>
            <a:t>2 million flights booked</a:t>
          </a:r>
        </a:p>
      </dgm:t>
    </dgm:pt>
    <dgm:pt modelId="{F452E2A1-2F33-4C33-B296-9142B29B2879}" type="parTrans" cxnId="{4751D972-4DED-4DA8-A2E4-26B41A55EA8D}">
      <dgm:prSet/>
      <dgm:spPr/>
      <dgm:t>
        <a:bodyPr/>
        <a:lstStyle/>
        <a:p>
          <a:endParaRPr lang="en-US"/>
        </a:p>
      </dgm:t>
    </dgm:pt>
    <dgm:pt modelId="{D74CD524-7071-44B5-B879-BB690A1D8993}" type="sibTrans" cxnId="{4751D972-4DED-4DA8-A2E4-26B41A55EA8D}">
      <dgm:prSet/>
      <dgm:spPr/>
      <dgm:t>
        <a:bodyPr/>
        <a:lstStyle/>
        <a:p>
          <a:endParaRPr lang="en-US"/>
        </a:p>
      </dgm:t>
    </dgm:pt>
    <dgm:pt modelId="{5C6717F6-030A-4D34-B5AD-43ECB6A578AF}">
      <dgm:prSet phldrT="[Text]"/>
      <dgm:spPr/>
      <dgm:t>
        <a:bodyPr/>
        <a:lstStyle/>
        <a:p>
          <a:r>
            <a:rPr lang="en-US" dirty="0"/>
            <a:t>490 million kms flight distance</a:t>
          </a:r>
        </a:p>
      </dgm:t>
    </dgm:pt>
    <dgm:pt modelId="{13002B66-841A-4EBE-B719-71B6AA143950}" type="parTrans" cxnId="{D7B14D29-CB74-4CD7-A8F3-C636AD717DA1}">
      <dgm:prSet/>
      <dgm:spPr/>
      <dgm:t>
        <a:bodyPr/>
        <a:lstStyle/>
        <a:p>
          <a:endParaRPr lang="en-US"/>
        </a:p>
      </dgm:t>
    </dgm:pt>
    <dgm:pt modelId="{781EC6F2-3619-48AD-8915-C29AD2E370C4}" type="sibTrans" cxnId="{D7B14D29-CB74-4CD7-A8F3-C636AD717DA1}">
      <dgm:prSet/>
      <dgm:spPr/>
      <dgm:t>
        <a:bodyPr/>
        <a:lstStyle/>
        <a:p>
          <a:endParaRPr lang="en-US"/>
        </a:p>
      </dgm:t>
    </dgm:pt>
    <dgm:pt modelId="{228650D8-11B1-406D-91B8-06DA62F9ED67}">
      <dgm:prSet phldrT="[Text]"/>
      <dgm:spPr/>
      <dgm:t>
        <a:bodyPr/>
        <a:lstStyle/>
        <a:p>
          <a:r>
            <a:rPr lang="en-US" dirty="0"/>
            <a:t>14670 loyalty card members as of end of 2018</a:t>
          </a:r>
        </a:p>
      </dgm:t>
    </dgm:pt>
    <dgm:pt modelId="{7239DC16-2F10-4CDF-8045-4A444EBC0A11}" type="parTrans" cxnId="{FE5FC627-96BF-41E2-AA15-A53847C2A10B}">
      <dgm:prSet/>
      <dgm:spPr/>
      <dgm:t>
        <a:bodyPr/>
        <a:lstStyle/>
        <a:p>
          <a:endParaRPr lang="en-US"/>
        </a:p>
      </dgm:t>
    </dgm:pt>
    <dgm:pt modelId="{06A2CCC6-C2F6-4AD8-A51F-1DF842FB6863}" type="sibTrans" cxnId="{FE5FC627-96BF-41E2-AA15-A53847C2A10B}">
      <dgm:prSet/>
      <dgm:spPr/>
      <dgm:t>
        <a:bodyPr/>
        <a:lstStyle/>
        <a:p>
          <a:endParaRPr lang="en-US"/>
        </a:p>
      </dgm:t>
    </dgm:pt>
    <dgm:pt modelId="{D65796C0-660E-4DDD-9B9A-ABE4D24BB72C}">
      <dgm:prSet phldrT="[Text]"/>
      <dgm:spPr/>
      <dgm:t>
        <a:bodyPr/>
        <a:lstStyle/>
        <a:p>
          <a:r>
            <a:rPr lang="en-US" dirty="0"/>
            <a:t>12 million point redeemed</a:t>
          </a:r>
        </a:p>
      </dgm:t>
    </dgm:pt>
    <dgm:pt modelId="{58B1FF73-5942-46B7-815B-611B264ED264}" type="parTrans" cxnId="{ED0667E7-0422-4CF0-A459-668721EE58E0}">
      <dgm:prSet/>
      <dgm:spPr/>
      <dgm:t>
        <a:bodyPr/>
        <a:lstStyle/>
        <a:p>
          <a:endParaRPr lang="en-US"/>
        </a:p>
      </dgm:t>
    </dgm:pt>
    <dgm:pt modelId="{88B10510-77B0-4E10-A707-B59D1F822747}" type="sibTrans" cxnId="{ED0667E7-0422-4CF0-A459-668721EE58E0}">
      <dgm:prSet/>
      <dgm:spPr/>
      <dgm:t>
        <a:bodyPr/>
        <a:lstStyle/>
        <a:p>
          <a:endParaRPr lang="en-US"/>
        </a:p>
      </dgm:t>
    </dgm:pt>
    <dgm:pt modelId="{41C68CC0-A646-45CF-B863-27FA57C1C9E6}" type="pres">
      <dgm:prSet presAssocID="{5EBFBA40-4663-4893-AA94-EBDA2B76C196}" presName="diagram" presStyleCnt="0">
        <dgm:presLayoutVars>
          <dgm:dir/>
          <dgm:resizeHandles val="exact"/>
        </dgm:presLayoutVars>
      </dgm:prSet>
      <dgm:spPr/>
    </dgm:pt>
    <dgm:pt modelId="{B59A1506-4B67-4BD1-926C-1F9C94672C0E}" type="pres">
      <dgm:prSet presAssocID="{B4CD366B-B967-4DE6-BF78-980523737976}" presName="node" presStyleLbl="node1" presStyleIdx="0" presStyleCnt="4">
        <dgm:presLayoutVars>
          <dgm:bulletEnabled val="1"/>
        </dgm:presLayoutVars>
      </dgm:prSet>
      <dgm:spPr/>
    </dgm:pt>
    <dgm:pt modelId="{2A6CC7C4-CCFD-4315-A102-C2329DB33A68}" type="pres">
      <dgm:prSet presAssocID="{D74CD524-7071-44B5-B879-BB690A1D8993}" presName="sibTrans" presStyleCnt="0"/>
      <dgm:spPr/>
    </dgm:pt>
    <dgm:pt modelId="{A2A2E973-0E2C-4650-BA38-AF4C11D605F0}" type="pres">
      <dgm:prSet presAssocID="{5C6717F6-030A-4D34-B5AD-43ECB6A578AF}" presName="node" presStyleLbl="node1" presStyleIdx="1" presStyleCnt="4">
        <dgm:presLayoutVars>
          <dgm:bulletEnabled val="1"/>
        </dgm:presLayoutVars>
      </dgm:prSet>
      <dgm:spPr/>
    </dgm:pt>
    <dgm:pt modelId="{0EF00D6B-2182-4ECD-8B6F-AD53DF9E7EA5}" type="pres">
      <dgm:prSet presAssocID="{781EC6F2-3619-48AD-8915-C29AD2E370C4}" presName="sibTrans" presStyleCnt="0"/>
      <dgm:spPr/>
    </dgm:pt>
    <dgm:pt modelId="{74C7691C-BD0E-4F7E-B7AA-BF7442FA46BE}" type="pres">
      <dgm:prSet presAssocID="{228650D8-11B1-406D-91B8-06DA62F9ED67}" presName="node" presStyleLbl="node1" presStyleIdx="2" presStyleCnt="4">
        <dgm:presLayoutVars>
          <dgm:bulletEnabled val="1"/>
        </dgm:presLayoutVars>
      </dgm:prSet>
      <dgm:spPr/>
    </dgm:pt>
    <dgm:pt modelId="{44EA97B8-A828-430F-A726-EBA7BB389C50}" type="pres">
      <dgm:prSet presAssocID="{06A2CCC6-C2F6-4AD8-A51F-1DF842FB6863}" presName="sibTrans" presStyleCnt="0"/>
      <dgm:spPr/>
    </dgm:pt>
    <dgm:pt modelId="{62F781EE-70D6-422C-BE3D-2907E82B43C3}" type="pres">
      <dgm:prSet presAssocID="{D65796C0-660E-4DDD-9B9A-ABE4D24BB72C}" presName="node" presStyleLbl="node1" presStyleIdx="3" presStyleCnt="4">
        <dgm:presLayoutVars>
          <dgm:bulletEnabled val="1"/>
        </dgm:presLayoutVars>
      </dgm:prSet>
      <dgm:spPr/>
    </dgm:pt>
  </dgm:ptLst>
  <dgm:cxnLst>
    <dgm:cxn modelId="{FE5FC627-96BF-41E2-AA15-A53847C2A10B}" srcId="{5EBFBA40-4663-4893-AA94-EBDA2B76C196}" destId="{228650D8-11B1-406D-91B8-06DA62F9ED67}" srcOrd="2" destOrd="0" parTransId="{7239DC16-2F10-4CDF-8045-4A444EBC0A11}" sibTransId="{06A2CCC6-C2F6-4AD8-A51F-1DF842FB6863}"/>
    <dgm:cxn modelId="{D7B14D29-CB74-4CD7-A8F3-C636AD717DA1}" srcId="{5EBFBA40-4663-4893-AA94-EBDA2B76C196}" destId="{5C6717F6-030A-4D34-B5AD-43ECB6A578AF}" srcOrd="1" destOrd="0" parTransId="{13002B66-841A-4EBE-B719-71B6AA143950}" sibTransId="{781EC6F2-3619-48AD-8915-C29AD2E370C4}"/>
    <dgm:cxn modelId="{4EE1D040-19DD-4BEA-AFC5-53E500841B03}" type="presOf" srcId="{5C6717F6-030A-4D34-B5AD-43ECB6A578AF}" destId="{A2A2E973-0E2C-4650-BA38-AF4C11D605F0}" srcOrd="0" destOrd="0" presId="urn:microsoft.com/office/officeart/2005/8/layout/default"/>
    <dgm:cxn modelId="{DD07E646-A2BF-42FE-92C8-EAF8D561739F}" type="presOf" srcId="{5EBFBA40-4663-4893-AA94-EBDA2B76C196}" destId="{41C68CC0-A646-45CF-B863-27FA57C1C9E6}" srcOrd="0" destOrd="0" presId="urn:microsoft.com/office/officeart/2005/8/layout/default"/>
    <dgm:cxn modelId="{4751D972-4DED-4DA8-A2E4-26B41A55EA8D}" srcId="{5EBFBA40-4663-4893-AA94-EBDA2B76C196}" destId="{B4CD366B-B967-4DE6-BF78-980523737976}" srcOrd="0" destOrd="0" parTransId="{F452E2A1-2F33-4C33-B296-9142B29B2879}" sibTransId="{D74CD524-7071-44B5-B879-BB690A1D8993}"/>
    <dgm:cxn modelId="{EC8EC557-91DC-40CB-B9D5-428105EED681}" type="presOf" srcId="{D65796C0-660E-4DDD-9B9A-ABE4D24BB72C}" destId="{62F781EE-70D6-422C-BE3D-2907E82B43C3}" srcOrd="0" destOrd="0" presId="urn:microsoft.com/office/officeart/2005/8/layout/default"/>
    <dgm:cxn modelId="{6AD6A2E0-E23C-4143-8E06-3340EE2016DF}" type="presOf" srcId="{B4CD366B-B967-4DE6-BF78-980523737976}" destId="{B59A1506-4B67-4BD1-926C-1F9C94672C0E}" srcOrd="0" destOrd="0" presId="urn:microsoft.com/office/officeart/2005/8/layout/default"/>
    <dgm:cxn modelId="{ED0667E7-0422-4CF0-A459-668721EE58E0}" srcId="{5EBFBA40-4663-4893-AA94-EBDA2B76C196}" destId="{D65796C0-660E-4DDD-9B9A-ABE4D24BB72C}" srcOrd="3" destOrd="0" parTransId="{58B1FF73-5942-46B7-815B-611B264ED264}" sibTransId="{88B10510-77B0-4E10-A707-B59D1F822747}"/>
    <dgm:cxn modelId="{F985D5F9-E40A-454A-95A7-EC88D53974E7}" type="presOf" srcId="{228650D8-11B1-406D-91B8-06DA62F9ED67}" destId="{74C7691C-BD0E-4F7E-B7AA-BF7442FA46BE}" srcOrd="0" destOrd="0" presId="urn:microsoft.com/office/officeart/2005/8/layout/default"/>
    <dgm:cxn modelId="{5D2E2D9A-87F8-4DE5-925D-9E1A2B9158F5}" type="presParOf" srcId="{41C68CC0-A646-45CF-B863-27FA57C1C9E6}" destId="{B59A1506-4B67-4BD1-926C-1F9C94672C0E}" srcOrd="0" destOrd="0" presId="urn:microsoft.com/office/officeart/2005/8/layout/default"/>
    <dgm:cxn modelId="{36903826-F8C5-41E8-AE43-1FCCED1A5D44}" type="presParOf" srcId="{41C68CC0-A646-45CF-B863-27FA57C1C9E6}" destId="{2A6CC7C4-CCFD-4315-A102-C2329DB33A68}" srcOrd="1" destOrd="0" presId="urn:microsoft.com/office/officeart/2005/8/layout/default"/>
    <dgm:cxn modelId="{1C9C5CB2-3CCB-4BCB-9991-43D636687B2F}" type="presParOf" srcId="{41C68CC0-A646-45CF-B863-27FA57C1C9E6}" destId="{A2A2E973-0E2C-4650-BA38-AF4C11D605F0}" srcOrd="2" destOrd="0" presId="urn:microsoft.com/office/officeart/2005/8/layout/default"/>
    <dgm:cxn modelId="{60E4EAB6-BDBF-4344-B26A-04308927CC53}" type="presParOf" srcId="{41C68CC0-A646-45CF-B863-27FA57C1C9E6}" destId="{0EF00D6B-2182-4ECD-8B6F-AD53DF9E7EA5}" srcOrd="3" destOrd="0" presId="urn:microsoft.com/office/officeart/2005/8/layout/default"/>
    <dgm:cxn modelId="{94E722AF-3318-4359-9540-53820EAF828F}" type="presParOf" srcId="{41C68CC0-A646-45CF-B863-27FA57C1C9E6}" destId="{74C7691C-BD0E-4F7E-B7AA-BF7442FA46BE}" srcOrd="4" destOrd="0" presId="urn:microsoft.com/office/officeart/2005/8/layout/default"/>
    <dgm:cxn modelId="{7A0F8397-985C-4113-B615-986E284C95D7}" type="presParOf" srcId="{41C68CC0-A646-45CF-B863-27FA57C1C9E6}" destId="{44EA97B8-A828-430F-A726-EBA7BB389C50}" srcOrd="5" destOrd="0" presId="urn:microsoft.com/office/officeart/2005/8/layout/default"/>
    <dgm:cxn modelId="{4C023DC8-426D-4D46-AFD3-0441BA52E564}" type="presParOf" srcId="{41C68CC0-A646-45CF-B863-27FA57C1C9E6}" destId="{62F781EE-70D6-422C-BE3D-2907E82B43C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A1506-4B67-4BD1-926C-1F9C94672C0E}">
      <dsp:nvSpPr>
        <dsp:cNvPr id="0" name=""/>
        <dsp:cNvSpPr/>
      </dsp:nvSpPr>
      <dsp:spPr>
        <a:xfrm>
          <a:off x="1246981" y="350"/>
          <a:ext cx="2682875" cy="16097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2 million flights booked</a:t>
          </a:r>
        </a:p>
      </dsp:txBody>
      <dsp:txXfrm>
        <a:off x="1246981" y="350"/>
        <a:ext cx="2682875" cy="1609725"/>
      </dsp:txXfrm>
    </dsp:sp>
    <dsp:sp modelId="{A2A2E973-0E2C-4650-BA38-AF4C11D605F0}">
      <dsp:nvSpPr>
        <dsp:cNvPr id="0" name=""/>
        <dsp:cNvSpPr/>
      </dsp:nvSpPr>
      <dsp:spPr>
        <a:xfrm>
          <a:off x="4198143" y="350"/>
          <a:ext cx="2682875" cy="16097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490 million kms flight distance</a:t>
          </a:r>
        </a:p>
      </dsp:txBody>
      <dsp:txXfrm>
        <a:off x="4198143" y="350"/>
        <a:ext cx="2682875" cy="1609725"/>
      </dsp:txXfrm>
    </dsp:sp>
    <dsp:sp modelId="{74C7691C-BD0E-4F7E-B7AA-BF7442FA46BE}">
      <dsp:nvSpPr>
        <dsp:cNvPr id="0" name=""/>
        <dsp:cNvSpPr/>
      </dsp:nvSpPr>
      <dsp:spPr>
        <a:xfrm>
          <a:off x="1246981" y="1878363"/>
          <a:ext cx="2682875" cy="16097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14670 loyalty card members as of end of 2018</a:t>
          </a:r>
        </a:p>
      </dsp:txBody>
      <dsp:txXfrm>
        <a:off x="1246981" y="1878363"/>
        <a:ext cx="2682875" cy="1609725"/>
      </dsp:txXfrm>
    </dsp:sp>
    <dsp:sp modelId="{62F781EE-70D6-422C-BE3D-2907E82B43C3}">
      <dsp:nvSpPr>
        <dsp:cNvPr id="0" name=""/>
        <dsp:cNvSpPr/>
      </dsp:nvSpPr>
      <dsp:spPr>
        <a:xfrm>
          <a:off x="4198143" y="1878363"/>
          <a:ext cx="2682875" cy="16097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12 million point redeemed</a:t>
          </a:r>
        </a:p>
      </dsp:txBody>
      <dsp:txXfrm>
        <a:off x="4198143" y="1878363"/>
        <a:ext cx="2682875" cy="1609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814B4-B0A7-48B7-B3EC-DBE15606074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5E7F6-73F7-4169-8E08-0AEF7CB73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EA77-C6FC-7E83-A587-9234CE24D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BB284-D173-A617-4CE4-1F2A58E89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1F000-9BE9-8F05-E755-A3DE9FAE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B5B3C-E74F-8CD2-A9D7-43B35DDA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3C158-1598-A90C-1232-DB2F07D3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8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FD12-7E49-EF90-39C5-D2698A27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F8FFE-5AA8-403E-E911-41BA53B86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04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A636-BF05-E2A5-6765-4F445021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35737-5CBF-F007-D798-C7E87178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Zain Akbar – Portfolio Project 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46AAC-C0B2-2991-8F47-3CF9E968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678FACD-6CF5-3833-CD09-0409FEF95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06885" y="0"/>
            <a:ext cx="1538287" cy="14954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 descr="A logo of a whale&#10;&#10;Description automatically generated">
            <a:extLst>
              <a:ext uri="{FF2B5EF4-FFF2-40B4-BE49-F238E27FC236}">
                <a16:creationId xmlns:a16="http://schemas.microsoft.com/office/drawing/2014/main" id="{BDA41B21-F937-3433-4D00-5F5CFCD6E4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909" y="0"/>
            <a:ext cx="1474238" cy="1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9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A00E-E42A-498E-2D45-183AFABA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EE937-C76D-ECE1-076B-0DE4E643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98322-4D31-BE86-3D58-2131D34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05DCE-4908-7298-569F-B550126F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12F3C-D61E-E833-C8EC-93B5B32E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5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5F02-AC4C-342F-A81A-2DA4C435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8F98F-33CB-373F-D5D0-641548F24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88D82-EB79-8031-A10F-A1B0806B0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3285F-135B-645C-C143-7C0663B9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3BAA3-5210-FAEB-F335-7600DE09B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F6C02-559B-F838-F7E0-AA711654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6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700C-D7D1-BFBB-5799-1CDE7F96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6684-2C8B-B7B2-A9CA-3FF5C042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9BC5C-CA4A-9E18-E13D-FA724B4DA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B2319-464B-EC7B-8820-7C5CC3EA2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45C84-AC9A-31DA-2D01-E90ADC991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95274-30C7-D11E-67A1-A5533706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6825FC-59B1-C2B2-BE1B-AAF4FD10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9870C3-77D5-E28C-AA2D-44D7434F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58EA-81F9-3701-4ED2-18E820E0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480B1-DD55-19DB-8C0E-18912D29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65EDF-CF21-039C-773F-D501FC49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4DD57-1FB8-70A6-BB08-21CC3C99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0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CC225-D96C-80FA-D078-F808C385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51CAF-88E1-8E8C-95F4-6668B142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3A40-3564-389C-DB0A-390CFA54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E5EF-68D8-D9A9-8ABD-80DC483D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A91C6-B56A-5C2D-CD5B-9C11EE228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1FF51-A87B-03C5-5C16-1ACE200ED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F6192-B4D9-309C-BFBC-4BB22CD0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45C6-67AC-CDD0-601F-1B48AFBF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9B406-470F-CCFA-7420-C123F575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6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3D37-D3FC-0853-D277-55B815A2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72640-4C09-8BB5-A8A5-6B462CBA8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897F1-5EF3-09EE-8478-A37A53CD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6F808-ACC3-A4E4-0DF7-CD0A531A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EC551-26BB-4D81-E0C8-ED29C4B3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5A4FF-5407-9F95-AC63-324861F6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2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A4E5-DE91-0036-FB07-C87E1882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411F0-494C-C11A-0010-B1F303684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F3AD4-5D7D-8CA8-F522-80E92DD5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AB303-2B05-F86E-34FD-ACD86203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3AAAC-B75C-C353-638A-E4F240CA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F2AB1-408C-890F-D473-D9FF005F8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C04DF-9FB8-057C-E939-986186833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B5689-BA22-5AF4-7D2D-04607B4B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FFABB-0AB1-3926-ADDB-A374CC51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19A21-F65D-A0FF-E7BC-C388B34D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2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A531E-5070-DF55-C0B2-DFEBFB7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BBEBA-7F8A-1B06-8F18-6078663C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46F1-A27E-67EE-6953-FBD440F20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9A03-2961-415F-B8DE-01BAD29BF6CC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D55BE-341B-57A8-E322-D691DB622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1C06C-686A-A1E2-48EA-B8E5F30C6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33C61-B390-4D20-89FB-BC63C82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F6CCF-6F12-F6C6-544E-1AD8D79EA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274926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Business Intelligence Case Study: Flying Whale Airline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334D6-9C7B-471C-2CB8-344638D3A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623" y="4625292"/>
            <a:ext cx="4171994" cy="103578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Portfolio Project</a:t>
            </a:r>
          </a:p>
          <a:p>
            <a:pPr algn="l"/>
            <a:r>
              <a:rPr lang="en-US" dirty="0"/>
              <a:t>Muhammad Zain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logo of a whale&#10;&#10;Description automatically generated">
            <a:extLst>
              <a:ext uri="{FF2B5EF4-FFF2-40B4-BE49-F238E27FC236}">
                <a16:creationId xmlns:a16="http://schemas.microsoft.com/office/drawing/2014/main" id="{9A18C263-3888-FD04-AA38-3A9E1B09A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  <a:noFill/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D440C7-9A10-3574-95C0-452B18796F0B}"/>
              </a:ext>
            </a:extLst>
          </p:cNvPr>
          <p:cNvCxnSpPr>
            <a:cxnSpLocks/>
          </p:cNvCxnSpPr>
          <p:nvPr/>
        </p:nvCxnSpPr>
        <p:spPr>
          <a:xfrm>
            <a:off x="391886" y="3373712"/>
            <a:ext cx="4730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4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015A-DC16-BA31-6B9B-B192CFE9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Highlights – 2017/18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E1C9-B5CA-4627-DB3A-D234466A9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Following statistics are based on 2017 and 2018.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8DABE96-2FED-31EE-492D-49F0E39E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447717"/>
              </p:ext>
            </p:extLst>
          </p:nvPr>
        </p:nvGraphicFramePr>
        <p:xfrm>
          <a:off x="2032000" y="2649893"/>
          <a:ext cx="8128000" cy="3488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818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EDDE-9A83-5A81-6606-753ADC96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464"/>
            <a:ext cx="10515600" cy="707895"/>
          </a:xfrm>
        </p:spPr>
        <p:txBody>
          <a:bodyPr/>
          <a:lstStyle/>
          <a:p>
            <a:r>
              <a:rPr lang="en-US" dirty="0"/>
              <a:t>Flight Activity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867AD9-C2CB-2FEB-CE88-A8A4FB9D0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939"/>
            <a:ext cx="10871718" cy="4824024"/>
          </a:xfrm>
        </p:spPr>
        <p:txBody>
          <a:bodyPr numCol="2"/>
          <a:lstStyle/>
          <a:p>
            <a:pPr algn="just"/>
            <a:r>
              <a:rPr lang="en-US" dirty="0"/>
              <a:t>Flights shows a seasonal trend with two peaks in a year, July and December, with July peak being larger than December.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Either for individual members or for additional passenger, highest points redeemed for number of flights booked during 2017 &amp; 2018 is </a:t>
            </a:r>
            <a:r>
              <a:rPr lang="en-US" b="1" dirty="0"/>
              <a:t>3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9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FCD667E1-2FC0-8872-4062-0A3A44B9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538" y="1166760"/>
            <a:ext cx="4478313" cy="2011786"/>
          </a:xfrm>
          <a:prstGeom prst="rect">
            <a:avLst/>
          </a:prstGeom>
        </p:spPr>
      </p:pic>
      <p:pic>
        <p:nvPicPr>
          <p:cNvPr id="11" name="Picture 10" descr="A graph of blue rectangular bars&#10;&#10;Description automatically generated">
            <a:extLst>
              <a:ext uri="{FF2B5EF4-FFF2-40B4-BE49-F238E27FC236}">
                <a16:creationId xmlns:a16="http://schemas.microsoft.com/office/drawing/2014/main" id="{0F3DCEFC-2B68-F284-5B4F-9FEAD1C3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916" y="3551799"/>
            <a:ext cx="4169884" cy="195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2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BD91-0434-4654-6CE8-D84461F0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281"/>
          </a:xfrm>
        </p:spPr>
        <p:txBody>
          <a:bodyPr/>
          <a:lstStyle/>
          <a:p>
            <a:r>
              <a:rPr lang="en-US" dirty="0"/>
              <a:t>Loyalty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C17D-0914-2502-2478-0A9288BE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414"/>
            <a:ext cx="4797490" cy="512466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There is almost equal number of membership by females and males.</a:t>
            </a:r>
          </a:p>
          <a:p>
            <a:pPr algn="just"/>
            <a:r>
              <a:rPr lang="en-US" dirty="0"/>
              <a:t>Star loyalty category has the largest membership irrespective of gender, marital status, and geographic location.</a:t>
            </a:r>
          </a:p>
          <a:p>
            <a:pPr algn="just"/>
            <a:r>
              <a:rPr lang="en-US" dirty="0"/>
              <a:t>Star members have highest median distance (kms) with 519 kms for all flights with Nova members have lowest median distance (kms).</a:t>
            </a:r>
          </a:p>
          <a:p>
            <a:pPr algn="just"/>
            <a:r>
              <a:rPr lang="en-US" dirty="0"/>
              <a:t>The flights booked follow same seasonal trend irrespective of the type of loyalty card, but Star members have the highest number of flights for all months.</a:t>
            </a:r>
          </a:p>
        </p:txBody>
      </p:sp>
      <p:pic>
        <p:nvPicPr>
          <p:cNvPr id="5" name="Picture 4" descr="A blue and orange pie chart&#10;&#10;Description automatically generated">
            <a:extLst>
              <a:ext uri="{FF2B5EF4-FFF2-40B4-BE49-F238E27FC236}">
                <a16:creationId xmlns:a16="http://schemas.microsoft.com/office/drawing/2014/main" id="{1F69D999-0A37-6325-A4AD-A9CC80C0B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065" y="1453414"/>
            <a:ext cx="4208106" cy="1769556"/>
          </a:xfrm>
          <a:prstGeom prst="rect">
            <a:avLst/>
          </a:prstGeom>
        </p:spPr>
      </p:pic>
      <p:pic>
        <p:nvPicPr>
          <p:cNvPr id="7" name="Picture 6" descr="A graph of a chart&#10;&#10;Description automatically generated with medium confidence">
            <a:extLst>
              <a:ext uri="{FF2B5EF4-FFF2-40B4-BE49-F238E27FC236}">
                <a16:creationId xmlns:a16="http://schemas.microsoft.com/office/drawing/2014/main" id="{B5048068-2978-51F9-04E0-3F1CBFA1D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35030"/>
            <a:ext cx="5559392" cy="285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80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F24A-8944-BFD7-BB63-EAD17398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863"/>
          </a:xfrm>
        </p:spPr>
        <p:txBody>
          <a:bodyPr/>
          <a:lstStyle/>
          <a:p>
            <a:r>
              <a:rPr lang="en-US" dirty="0"/>
              <a:t>Customer lifetime value (CLV)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F388-0C9D-D84F-15EC-3424EA47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212"/>
            <a:ext cx="5114731" cy="461875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Defined as </a:t>
            </a:r>
            <a:r>
              <a:rPr lang="en-US" i="1" dirty="0"/>
              <a:t>“total invoice value for all flights ever booked by member”.</a:t>
            </a:r>
          </a:p>
          <a:p>
            <a:pPr algn="just"/>
            <a:r>
              <a:rPr lang="en-US" dirty="0"/>
              <a:t>Aurora members have highest average CLV value with Nova members have second highest average CLV.</a:t>
            </a:r>
          </a:p>
          <a:p>
            <a:pPr algn="just"/>
            <a:r>
              <a:rPr lang="en-US" dirty="0"/>
              <a:t>Aurora members have equal proportion of females and males. Approximately for both Aurora and Nova members, 60 percent of members are married.</a:t>
            </a:r>
          </a:p>
          <a:p>
            <a:pPr algn="just"/>
            <a:endParaRPr lang="en-US" dirty="0"/>
          </a:p>
        </p:txBody>
      </p:sp>
      <p:pic>
        <p:nvPicPr>
          <p:cNvPr id="7" name="Picture 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64FBD537-268E-4232-A5B2-28FA38D5E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467" y="1760698"/>
            <a:ext cx="2954956" cy="300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2763-42ED-4D2D-5896-F805E6E6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r>
              <a:rPr lang="en-US" dirty="0"/>
              <a:t>Enrollment &amp; Cancellation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3A98-BFED-F6FE-DF9C-A7FFF85D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9"/>
            <a:ext cx="5658853" cy="46747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Average duration of enrollment among cancelled members is 15.88 months. </a:t>
            </a:r>
          </a:p>
          <a:p>
            <a:pPr algn="just"/>
            <a:r>
              <a:rPr lang="en-US" dirty="0"/>
              <a:t>Prince Edward Island, Yukon, Alberta, Quebec, and British Columbia has average duration of enrollment is below the overall average for cancelled members.</a:t>
            </a:r>
          </a:p>
          <a:p>
            <a:pPr algn="just"/>
            <a:r>
              <a:rPr lang="en-US" dirty="0"/>
              <a:t>Membership cancellation is highest for month of December.</a:t>
            </a:r>
          </a:p>
          <a:p>
            <a:pPr algn="just"/>
            <a:r>
              <a:rPr lang="en-US" dirty="0"/>
              <a:t>With respect to the loyalty card categories, Aurora has the lowest average duration of enrollment.</a:t>
            </a:r>
          </a:p>
        </p:txBody>
      </p:sp>
      <p:pic>
        <p:nvPicPr>
          <p:cNvPr id="5" name="Picture 4" descr="A map with red and blue dots&#10;&#10;Description automatically generated">
            <a:extLst>
              <a:ext uri="{FF2B5EF4-FFF2-40B4-BE49-F238E27FC236}">
                <a16:creationId xmlns:a16="http://schemas.microsoft.com/office/drawing/2014/main" id="{BE8C428D-9D2A-9B6F-3E12-F219098CE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034" y="1343608"/>
            <a:ext cx="3928470" cy="2662873"/>
          </a:xfrm>
          <a:prstGeom prst="rect">
            <a:avLst/>
          </a:prstGeom>
        </p:spPr>
      </p:pic>
      <p:pic>
        <p:nvPicPr>
          <p:cNvPr id="7" name="Picture 6" descr="A pie chart with numbers and a diagram&#10;&#10;Description automatically generated">
            <a:extLst>
              <a:ext uri="{FF2B5EF4-FFF2-40B4-BE49-F238E27FC236}">
                <a16:creationId xmlns:a16="http://schemas.microsoft.com/office/drawing/2014/main" id="{B9CE66B3-219A-C36F-3A63-02A8C9AFA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916" y="4001294"/>
            <a:ext cx="3845587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D79F-00F3-79EA-44F1-72628B45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5EBF0-ACEC-D27C-BBAD-3FE60EAA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Flying whale need to focus on its Aurora and Nova member as they have high customer lifetime value.</a:t>
            </a:r>
          </a:p>
          <a:p>
            <a:r>
              <a:rPr lang="en-US" dirty="0"/>
              <a:t>They could do this through advertisement campaign or new promotional deals, especially in peak travelling season i.e., July and December</a:t>
            </a:r>
          </a:p>
          <a:p>
            <a:r>
              <a:rPr lang="en-US" dirty="0"/>
              <a:t>Aurora has lowest average enrollment duration. This needs to be investigated further through filling feedback forms from existing and leaving members.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89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376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Business Intelligence Case Study: Flying Whale Airline</vt:lpstr>
      <vt:lpstr>Highlights – 2017/18</vt:lpstr>
      <vt:lpstr>Flight Activity</vt:lpstr>
      <vt:lpstr>Loyalty Segmentation</vt:lpstr>
      <vt:lpstr>Customer lifetime value (CLV)</vt:lpstr>
      <vt:lpstr>Enrollment &amp; Cancellation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Akbar, Muhammad Zain (IWMI-Pakistan)</dc:creator>
  <cp:lastModifiedBy>Muhammad Zain Bin Akbar</cp:lastModifiedBy>
  <cp:revision>9</cp:revision>
  <dcterms:created xsi:type="dcterms:W3CDTF">2024-03-04T09:08:42Z</dcterms:created>
  <dcterms:modified xsi:type="dcterms:W3CDTF">2026-10-10T06:29:06Z</dcterms:modified>
</cp:coreProperties>
</file>